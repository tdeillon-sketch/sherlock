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3E2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A78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98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0958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7B4FA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 &quot;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F2E36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&quot; &quot;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F2E36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&quot; &quot;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F2E36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&quot; &quot;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F2E36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&quot; &quot;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F2E36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&quot; &quot;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Hébergement</c:v>
                </c:pt>
                <c:pt idx="1">
                  <c:v>Voiture</c:v>
                </c:pt>
                <c:pt idx="2">
                  <c:v>Vols</c:v>
                </c:pt>
                <c:pt idx="3">
                  <c:v>Courses et repas</c:v>
                </c:pt>
                <c:pt idx="4">
                  <c:v>Activités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2800</c:v>
                </c:pt>
                <c:pt idx="1">
                  <c:v>1250</c:v>
                </c:pt>
                <c:pt idx="2">
                  <c:v>1150</c:v>
                </c:pt>
                <c:pt idx="3">
                  <c:v>1000</c:v>
                </c:pt>
                <c:pt idx="4">
                  <c:v>950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Recommandation ferme : 2 nuits Copenhague + 4 nuits Åsnen + 4 nuits Västervik + 2 nuits Stockholm.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Copenhague–Åsnen : 218 km, 2 h 43. Åsnen–Västervik : 3 h 15 à 3 h 45. Västervik–Stockholm : 3 h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1 — Arrivée et première immersion.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2 — Le meilleur de Copenhague.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3 — Départ vers la Suède et installation douce.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4 — Parc national d’Åsnen.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5 — Journée canoë.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6 — Animaux et campagne du Småland.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7 — Route panoramique et installation.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8 — Journée dans l’archipel.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9 — Gränsö et baignade.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10 — La journée « wahou ».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11 — Arrivée et restitution de la voiture.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12 — Stockholm essentiel, sans surcharge.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 13 — Départ. Trois activités maximum, retour au calme avant 18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Hypothèses : 4 personnes, 12 nuits, août, départ Genève, logements avec cuisine, repas maison. Vols multi-destinations. Voiture prise le jour 3 et rendue le jour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Compatible avec l’ensemble des contraintes fixées au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hero_ti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1887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ROADTRIP SCANDINAVE · 13 JOURS, 12 NUITS · AOÛT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645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Copenhague, Åsnen,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Västervik, Stockholm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977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villes en ouverture et en conclusion, un cœur lacustre avec la maison rouge au bord de l’eau, et un archipel baltique pour le point d’orgue.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212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96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5212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h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5596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conduite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5212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75 %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596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nature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5212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nuits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5596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partout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carte_road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457200"/>
            <a:ext cx="5897880" cy="5897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L’ITINÉRAIRE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96926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diagonale du Danemark</a:t>
            </a:r>
            <a:endParaRPr lang="en-US" sz="2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Baltique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487168"/>
            <a:ext cx="402336" cy="402336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15568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Copenhague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2734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 · Danemark  ·  Ville d’ouverture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364992"/>
            <a:ext cx="402336" cy="402336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3319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 Åsnen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611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nuits · Småland  ·  Maison rouge au bord du lac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242816"/>
            <a:ext cx="402336" cy="402336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4197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Västervik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44897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nuits · Archipel de Tjust  ·  Îles, rochers, kayak de mer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120640"/>
            <a:ext cx="402336" cy="402336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5074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5367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 · Uppland  ·  Conclusion urbaine, sans excès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598932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16414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6384" y="6080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h de conduite structurante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218688" y="60807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à 15 h avec les excursions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c’est probablement la meilleure combinaison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offre des paysages vraiment différents, au lieu de répéter deux fois le même décor.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798064"/>
            <a:ext cx="475488" cy="475488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529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Copenhague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4261104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vivante, colorée et facile à découvrir.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2487168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798064"/>
            <a:ext cx="475488" cy="475488"/>
          </a:xfrm>
          <a:prstGeom prst="ellipse">
            <a:avLst/>
          </a:prstGeom>
          <a:solidFill>
            <a:srgbClr val="0095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529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 lacustre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4261104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vraie maison rouge au bord d’un lac, celle que tu recherches.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2487168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2798064"/>
            <a:ext cx="475488" cy="475488"/>
          </a:xfrm>
          <a:prstGeom prst="ellipse">
            <a:avLst/>
          </a:prstGeom>
          <a:solidFill>
            <a:srgbClr val="0095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529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archipel baltique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4261104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plus spectaculaire et dépaysant qu’une étape de plus à l’intérieur du pays.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2487168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2798064"/>
            <a:ext cx="475488" cy="475488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529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4261104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excellente conclusion, plutôt qu’une longue étape urbaine.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apporte la mer, les rochers, les îles et le sentiment de bout du monde.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CONDUITE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roadtrip en chiffres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trajets structurants seulement, tous sous les quatre heures.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34440" y="2880360"/>
            <a:ext cx="9738360" cy="0"/>
          </a:xfrm>
          <a:prstGeom prst="line">
            <a:avLst/>
          </a:prstGeom>
          <a:noFill/>
          <a:ln w="31750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670048"/>
            <a:ext cx="420624" cy="42062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Copenhague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670048"/>
            <a:ext cx="420624" cy="420624"/>
          </a:xfrm>
          <a:prstGeom prst="ellipse">
            <a:avLst/>
          </a:prstGeom>
          <a:solidFill>
            <a:srgbClr val="0095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 Åsnen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16368" y="2670048"/>
            <a:ext cx="420624" cy="420624"/>
          </a:xfrm>
          <a:prstGeom prst="ellipse">
            <a:avLst/>
          </a:prstGeom>
          <a:solidFill>
            <a:srgbClr val="0095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Västervik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62488" y="2670048"/>
            <a:ext cx="420624" cy="42062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05940" y="2167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45 · 218 km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52060" y="2167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15 – 3 h 45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98180" y="2167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15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2615184" cy="1572768"/>
          </a:xfrm>
          <a:prstGeom prst="roundRect">
            <a:avLst>
              <a:gd name="adj" fmla="val 523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389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h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conduite structurante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64992" y="4160520"/>
            <a:ext cx="2615184" cy="1572768"/>
          </a:xfrm>
          <a:prstGeom prst="roundRect">
            <a:avLst>
              <a:gd name="adj" fmla="val 523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9312" y="4389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– 15 h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total, excursions comprises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3056" y="4160520"/>
            <a:ext cx="2615184" cy="1572768"/>
          </a:xfrm>
          <a:prstGeom prst="roundRect">
            <a:avLst>
              <a:gd name="adj" fmla="val 523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4389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hébergements sur 12 nuits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61120" y="4160520"/>
            <a:ext cx="2615184" cy="1572768"/>
          </a:xfrm>
          <a:prstGeom prst="roundRect">
            <a:avLst>
              <a:gd name="adj" fmla="val 523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4389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de moins de 2 nuits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ces trajets s’ajoutent quelques excursions locales : en sélectionnant soigneusement les activités, on reste sous les 15 heures.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L’ÉQUILIBRE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ville / nature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lectures du même séjour : les nuitées, puis le temps de visite réel.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30952" cy="3401568"/>
          </a:xfrm>
          <a:prstGeom prst="roundRect">
            <a:avLst>
              <a:gd name="adj" fmla="val 2419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nuitées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30723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7168" y="3035808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A83E27"/>
          </a:solidFill>
          <a:ln/>
        </p:spPr>
      </p:sp>
      <p:sp>
        <p:nvSpPr>
          <p:cNvPr id="9" name="Shape 7"/>
          <p:cNvSpPr/>
          <p:nvPr/>
        </p:nvSpPr>
        <p:spPr>
          <a:xfrm>
            <a:off x="2871216" y="3035808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A83E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24528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36027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Åsnen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87168" y="3566160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13" name="Shape 11"/>
          <p:cNvSpPr/>
          <p:nvPr/>
        </p:nvSpPr>
        <p:spPr>
          <a:xfrm>
            <a:off x="2871216" y="3566160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55264" y="3566160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39312" y="3566160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24528" y="3602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nuits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4133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87168" y="4096512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1216" y="4096512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55264" y="4096512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39312" y="4096512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0095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24528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nuits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" y="46634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87168" y="4626864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A83E27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4626864"/>
            <a:ext cx="310896" cy="347472"/>
          </a:xfrm>
          <a:prstGeom prst="roundRect">
            <a:avLst>
              <a:gd name="adj" fmla="val 14706"/>
            </a:avLst>
          </a:prstGeom>
          <a:solidFill>
            <a:srgbClr val="A83E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24528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5256" y="5175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nuits sur 12 en grande ville, soit 33 %.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05256" y="55046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095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61288" y="5486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29968" y="55046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83E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286000" y="5486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ville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2331720"/>
            <a:ext cx="5330952" cy="3401568"/>
          </a:xfrm>
          <a:prstGeom prst="roundRect">
            <a:avLst>
              <a:gd name="adj" fmla="val 2419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01968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de visite réel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292608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9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75 %</a:t>
            </a:r>
            <a:endParaRPr lang="en-US" sz="46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30540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nature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de ville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01968" y="3913632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à Copenhague + une vraie journée : environ 1,5 jour urbain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tardive à Stockholm + une vraie journée : environ 1,5 jour urbain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journées essentiellement nature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01968" y="5321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presque exactement ta cible.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nuits urbaines pèsent lourd sur le papier, mais l’arrivée et le départ en consomment une bonne partie.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iv_copenhague_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0"/>
            <a:ext cx="512064" cy="51206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1435608" y="47640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NUITS 1–2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1389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Copenhague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887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vivante, colorée et facile à découvrir. Deux nuits suffisent : l’arrivée en consomme déjà une bonne moitié.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19379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Aéroport d’arrivée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prise le jour 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COPENHAGUE · NUITS 1–2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Arrivée et première immersion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Nyhavn et balade le long des quais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Palais d’Amalienborg et quartier de Frederiksstaden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Dîner ou promenade à Tivoli, selon l’heure d’arrivée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COPENHAGUE · NUITS 1–2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meilleur de Copenhague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Balade à vélo ou en bateau dans le port et les canaux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Rosenborg et ses jardins, sans nécessairement visiter tout le château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Torvehallerne ou quartier de Christianshavn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mettrais pas davantage de châteaux : le bâtiment et les jardins suffisent largement.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COPENHAGUE → LAC ÅSNEN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Départ vers la Suède et installation douce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depuis Copenhague : 218 km, 2 h 45 par le pont de l’Øresund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dans une petite ville suédoise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baignade ou sortie en barque devant la maison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visite ambitieuse ce jour-là : l’intérêt sera précisément de profiter du logement.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LOGISTIQUE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voiture : à verrouiller avant de réserver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prendrais la voiture le matin du jour 3, idéalement dans une agence permettant une restitution en Suède.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15184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907792"/>
            <a:ext cx="457200" cy="457200"/>
          </a:xfrm>
          <a:prstGeom prst="ellipse">
            <a:avLst/>
          </a:prstGeom>
          <a:solidFill>
            <a:srgbClr val="1D5B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58444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passage de frontière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4279392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explicitement que le contrat autorise à quitter le Danemark.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2615184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907792"/>
            <a:ext cx="457200" cy="457200"/>
          </a:xfrm>
          <a:prstGeom prst="ellipse">
            <a:avLst/>
          </a:prstGeom>
          <a:solidFill>
            <a:srgbClr val="1D5B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58444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supplément d’abandon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4279392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 montant exact pour une restitution à Stockholm.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3056" y="2615184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2907792"/>
            <a:ext cx="457200" cy="457200"/>
          </a:xfrm>
          <a:prstGeom prst="ellipse">
            <a:avLst/>
          </a:prstGeom>
          <a:solidFill>
            <a:srgbClr val="1D5B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58444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péage de l’Øresund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4279392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comment le pont est facturé et par qui.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0" y="2615184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2907792"/>
            <a:ext cx="457200" cy="457200"/>
          </a:xfrm>
          <a:prstGeom prst="ellipse">
            <a:avLst/>
          </a:prstGeom>
          <a:solidFill>
            <a:srgbClr val="1D5B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58444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L’assurance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4279392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S’assurer qu’elle couvre bien les deux pays.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restitution se fait le jour 11, avant d’entrer réellement dans le centre de Stockholm.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iv_asnen_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0"/>
            <a:ext cx="512064" cy="51206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1435608" y="47640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NUITS 3–6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1389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 Åsnen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887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vaste paysage de lac et d’îles : kayak, canoë, randonnée, vélo, baignade et observation des oiseaux.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19379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45 depuis Copenhague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km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Åsnen : où poser les valises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chercherais au sud ou à l’ouest du lac.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secteurs à viser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3054096"/>
            <a:ext cx="137160" cy="13716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Getnö Gård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990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nature bien équipée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657600"/>
            <a:ext cx="137160" cy="13716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Urshult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au sud du lac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261104"/>
            <a:ext cx="137160" cy="13716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4169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197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 ouest, discrète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864608"/>
            <a:ext cx="137160" cy="13716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4773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Tingsryd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Commerces et services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468112"/>
            <a:ext cx="137160" cy="13716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9536" y="5376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Sunnabron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404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d’une entrée du parc national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331720"/>
            <a:ext cx="5330952" cy="3749040"/>
          </a:xfrm>
          <a:prstGeom prst="roundRect">
            <a:avLst>
              <a:gd name="adj" fmla="val 21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26151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cahier des charges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09067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ou stuga indépendante pour quatre personnes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direct, ou presque direct, au lac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 et cuisine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Bateau ou canoë disponible sur place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élevée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voisinage trop dense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nuits au même endroit : c’est le logement lui-même qui devient une partie du voyage.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ÅSNEN · NUITS 3–6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 national d’Åsnen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du parc national, probablement autour de Sunnabron et Bjurkärr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Pique-nique au bord de l’eau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 baignade ou observation des oiseaux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Anciennes forêts, rives sauvages et nombreuses îles : une partie du paysage se découvre bien mieux depuis l’eau.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ÅSNEN · NUITS 3–6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Journée canoë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Demi-journée de canoë ou de kayak, parcours familial et sans bivouac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Débarquement sur une île pour déjeuner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tranquille à la maison, sauna éventuel ou baignade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loueurs opèrent tout autour du lac ; certains organisent même des itinéraires de plusieurs jours.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ÅSNEN · NUITS 3–6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Animaux et campagne du Småland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ou parc consacré aux élans, selon l’offre disponible à vos dates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Ferme, café rural ou boutique artisanale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fin d’après-midi au lac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Verreries du « Royaume du cristal » : une seule démonstration, pas davantage — plusieurs sites deviendraient répétitifs pour les filles.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iv_vastervik_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0"/>
            <a:ext cx="512064" cy="51206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1435608" y="47640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NUITS 7–10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1389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Archipel de Västervik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887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L’archipel de Tjust : des îles, des îlots rocheux, des forêts et des passages maritimes. Ici, le circuit passe du très beau au vraiment mémorable.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19379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15 à 3 h 45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Åsnen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Västervik : où dormir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une maison sur le continent avec accès à un embarcadère qu’une île, qui compliquerait tous les déplacements.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926080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25296" y="2852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Gränsö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32918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proche de Västervik, mais déjà en pleine nature.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08192" y="2560320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2926080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852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Loftahammar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2918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calme et plus maritime.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681728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25296" y="46085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Gamlebyviken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50474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l’on trouve une belle ferme ou une maison avec vue.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4315968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4681728"/>
            <a:ext cx="182880" cy="182880"/>
          </a:xfrm>
          <a:prstGeom prst="ellipse">
            <a:avLst/>
          </a:prstGeom>
          <a:solidFill>
            <a:srgbClr val="1D5B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46085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 continent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0474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accès à un embarcadère, plutôt qu’une île isolée.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kayak de mer est proposé depuis plusieurs points du secteur, notamment autour de Hasselö, Västervik et Örserumsviken.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ÅSNEN → VÄSTERVIK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panoramique et installation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Åsnen – Västervik : 3 h 15 à 3 h 45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Déjeuner dans une petite ville en chemin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Promenade sur le rivage à proximité du logement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· NUITS 7–10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8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Journée dans l’archipel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Bateau vers une île comme Hasselö ou Idö, selon les horaires d’août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randonnée ou plage sur l’île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ou glace près du débarcadère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horaires devront être adaptés à vos dates précises : la desserte varie selon la saison.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· NUITS 7–10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9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Gränsö et baignade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naturelle de Gränsö, sur une boucle raccourcie plutôt que les 12 km complets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ou baignade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rapide par le centre de Västervik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Ainsi, la ville reste une petite ponctuation agréable et non le centre de la journée.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53312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· NUITS 7–10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53312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journée « wahou »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CHOIX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guidée en kayak dans l’archipel : environ trois heures, à rythme familial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MÉTÉO TOURNE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en bateau au coucher du soleil, sauna flottant ou pêche avec guide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5568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OPTIONS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Pique-nique livré ou préparé sur un îlot, petite sortie en voilier traditionnel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la journée que je garderais souple en fonction de la météo.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iv_stockholm_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0"/>
            <a:ext cx="512064" cy="51206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1435608" y="47640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NUITS 11–12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1389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887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excellente conclusion plutôt qu’une longue étape urbaine : une arrivée tardive, une vraie journée, puis le départ.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19379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15 depuis Västervik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rendue à l’arrivée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→ STOCKHOLM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Arrivée et restitution de la voiture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vers Stockholm : 3 h 15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de la voiture avant d’entrer réellement dans le centre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Piscine, sauna et soirée très calme à l’hôtel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exactement ici que ton idée d’un appart’hôtel avec piscine prend tout son sens.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 · NUITS 11–12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 essentiel, sans surcharge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Musée Vasa, excellent même pour des enfants qui ne veulent pas enchaîner les musées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Bateau public ou ferry vers Djurgården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Gamla Stan en fin d’après-midi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62362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Drottningholm, ni excursion dans l’archipel : Västervik vous aura déjà offert le maritime, en plus naturel et moins touristique.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herlock/roadtrip-scandinavie/assets/d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08192" y="548640"/>
            <a:ext cx="603504" cy="603504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894576" y="7315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 · DÉPART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9457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08192" y="138988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Départ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108192" y="2542032"/>
            <a:ext cx="5486400" cy="1225296"/>
          </a:xfrm>
          <a:prstGeom prst="roundRect">
            <a:avLst>
              <a:gd name="adj" fmla="val 6716"/>
            </a:avLst>
          </a:prstGeom>
          <a:solidFill>
            <a:srgbClr val="EDF3F4"/>
          </a:solidFill>
          <a:ln w="9525">
            <a:solidFill>
              <a:srgbClr val="E3EC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82512" y="2834640"/>
            <a:ext cx="146304" cy="146304"/>
          </a:xfrm>
          <a:prstGeom prst="ellipse">
            <a:avLst/>
          </a:prstGeom>
          <a:solidFill>
            <a:srgbClr val="A83E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56832" y="2779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ACTIVITÉ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5683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vers l’aéroport, selon l’horaire du vol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8192" y="389534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187952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41330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56832" y="4425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Promenade courte dans le quartier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504748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5340096"/>
            <a:ext cx="146304" cy="146304"/>
          </a:xfrm>
          <a:prstGeom prst="ellipse">
            <a:avLst/>
          </a:prstGeom>
          <a:solidFill>
            <a:srgbClr val="417C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56832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ACTIVITÉ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5577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ou café avant de partir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DÉLICAT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Stockholm : l’arbitrage sur l’hébergement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 familial + vraie kitchenette + piscine + emplacement central, pour 200 à 300 € en août : la combinaison est rare.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15184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475488" cy="475488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Hôtel avec piscine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07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familiale, piscine et spa — mais sans cuisine complète.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2615184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926080"/>
            <a:ext cx="475488" cy="475488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657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Appart’hôtel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407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 cuisine et espace pour quatre — mais sans piscine.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2615184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926080"/>
            <a:ext cx="475488" cy="475488"/>
          </a:xfrm>
          <a:prstGeom prst="ellipse">
            <a:avLst/>
          </a:prstGeom>
          <a:solidFill>
            <a:srgbClr val="A83E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657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périphérique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407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 et espace bien-être, au prix d’un peu de trajet.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faudra probablement renoncer à l’un des quatre critères. Le plus simple à céder est la cuisine complète : deux nuits seulement.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L’ALTERNATIVE ÉCARTÉE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pas une étape au lac Vättern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Copenhague → Åsnen → Vättern / Omberg → Stockholm serait légèrement plus simple, mais nettement moins contrastée.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5358384" cy="3246120"/>
          </a:xfrm>
          <a:prstGeom prst="roundRect">
            <a:avLst>
              <a:gd name="adj" fmla="val 2535"/>
            </a:avLst>
          </a:prstGeom>
          <a:solidFill>
            <a:srgbClr val="F3F7F8"/>
          </a:solidFill>
          <a:ln w="9525">
            <a:solidFill>
              <a:srgbClr val="D5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7980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75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variante Vättern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6499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étapes de lacs et de forêts successives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Davantage de paysages intérieurs similaires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véritable archipel avant Stockholm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6208" y="2487168"/>
            <a:ext cx="5358384" cy="3246120"/>
          </a:xfrm>
          <a:prstGeom prst="roundRect">
            <a:avLst>
              <a:gd name="adj" fmla="val 2535"/>
            </a:avLst>
          </a:prstGeom>
          <a:solidFill>
            <a:srgbClr val="0F2E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Västervik apporte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336499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mer, les rochers et les îles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 de bout du monde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expérience maritime plus naturelle et moins touristique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5230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plus conforme au style B, « Scandinavie spectaculaire ».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Västervik apporte la rupture de décor que deux étapes lacustres successives ne donneraient jamais.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3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GRANDEUR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budget, poste par poste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personnes, 13 jours en août, départ de Genève : bons logements équipés d’une cuisine, repas préparés soi-même.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9456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53328" y="2450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83E2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51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nuits, 4 logements avec cuisine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2 800 €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27080" y="2414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39 %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53328" y="29992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A78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2944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200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jours, abandon en Suède, carburant, Øresund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1 250 €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27080" y="29626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547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985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0" y="3493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749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Genève – Copenhague, Stockholm – Genève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1 150 €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927080" y="35112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53328" y="4096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958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et repas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cuisine ; quelques cafés et glaces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46920" y="4041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1 000 €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927080" y="40599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53328" y="46451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B4FA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0" y="4590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8463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guidé, bateaux d’archipel, canoë, élans, Vasa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646920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950 €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927080" y="46085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053328" y="5230368"/>
            <a:ext cx="5532120" cy="0"/>
          </a:xfrm>
          <a:prstGeom prst="line">
            <a:avLst/>
          </a:prstGeom>
          <a:noFill/>
          <a:ln w="12700">
            <a:solidFill>
              <a:srgbClr val="D5E3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53328" y="5413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ESTIMÉ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053328" y="56692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3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7 150 €</a:t>
            </a:r>
            <a:endParaRPr lang="en-US" sz="34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570585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6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1 790 € par personne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961120" y="599846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550 € par jour pour quatre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355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5F7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Estimation, pas un devis. Les deux postes qui bougeront le plus : le supplément d’abandon de la voiture (150 à 450 € selon les loueurs) et les deux nuits à Stockholm.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RECOMMANDATION FERME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+ 4 + 4 + 2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591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 Copenhague · 4 nuits Åsnen · 4 nuits Västervik · 2 nuits Stockholm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71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Équilibré, reposant, varié.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675888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611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hébergements seulement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3675888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3611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séjour inférieur à deux nuits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279392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215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activités maximum par jour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4279392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4215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calme avant 18 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882896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818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maison au bord d’un lac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4882896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4818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75 % de nature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486400"/>
            <a:ext cx="182880" cy="182880"/>
          </a:xfrm>
          <a:prstGeom prst="ellipse">
            <a:avLst/>
          </a:prstGeom>
          <a:solidFill>
            <a:srgbClr val="0095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5422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15 heures de conduite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Roadtrip Scandinavie - 12 nuits</dc:title>
  <dc:subject>PptxGenJS Presentation</dc:subject>
  <dc:creator>Roadtrip Scandinavie</dc:creator>
  <cp:lastModifiedBy>Roadtrip Scandinavie</cp:lastModifiedBy>
  <cp:revision>1</cp:revision>
  <dcterms:created xsi:type="dcterms:W3CDTF">2026-08-29T20:17:11Z</dcterms:created>
  <dcterms:modified xsi:type="dcterms:W3CDTF">2026-08-29T20:17:11Z</dcterms:modified>
</cp:coreProperties>
</file>